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Geist" panose="020B0604020202020204" charset="0"/>
      <p:regular r:id="rId14"/>
    </p:embeddedFont>
    <p:embeddedFont>
      <p:font typeface="Noto Serif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9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11" Type="http://schemas.openxmlformats.org/officeDocument/2006/relationships/image" Target="../media/image28.jpeg"/><Relationship Id="rId5" Type="http://schemas.openxmlformats.org/officeDocument/2006/relationships/image" Target="../media/image22.jpeg"/><Relationship Id="rId10" Type="http://schemas.openxmlformats.org/officeDocument/2006/relationships/image" Target="../media/image27.jpeg"/><Relationship Id="rId4" Type="http://schemas.openxmlformats.org/officeDocument/2006/relationships/image" Target="../media/image21.jpeg"/><Relationship Id="rId9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hammedsathyala/AgriBridge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ahammedsathyala.github.io/AgriBridge/" TargetMode="External"/><Relationship Id="rId4" Type="http://schemas.openxmlformats.org/officeDocument/2006/relationships/hyperlink" Target="https://youtu.be/jV3ctbmCCy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645021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AgriBridge — AI-Powered Climate‑Resilient Agricultural Intelligence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700437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Local advice. Shared knowledge. Sustainable harvests.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215481"/>
            <a:ext cx="3053877" cy="1706662"/>
          </a:xfrm>
          <a:prstGeom prst="roundRect">
            <a:avLst>
              <a:gd name="adj" fmla="val 9968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3410843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Team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3819525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TECH VISION — researchers, agronomists, ML engineers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3215481"/>
            <a:ext cx="3053976" cy="1706662"/>
          </a:xfrm>
          <a:prstGeom prst="roundRect">
            <a:avLst>
              <a:gd name="adj" fmla="val 9968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3410843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Track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3819525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AgriN / Regenerative Agriculture — smallholder focus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5111155"/>
            <a:ext cx="6296860" cy="1101824"/>
          </a:xfrm>
          <a:prstGeom prst="roundRect">
            <a:avLst>
              <a:gd name="adj" fmla="val 15440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5306516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Core Tech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715198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• Satellite Intelligence • IoT • Computer Vision • Generative AI</a:t>
            </a:r>
            <a:endParaRPr lang="en-US" sz="14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0905EB-D4C0-826D-0EAA-BA0D0AA65ED9}"/>
              </a:ext>
            </a:extLst>
          </p:cNvPr>
          <p:cNvSpPr txBox="1"/>
          <p:nvPr/>
        </p:nvSpPr>
        <p:spPr>
          <a:xfrm>
            <a:off x="10871216" y="6485096"/>
            <a:ext cx="132448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Tech Vision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191816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The Problem Farmers Face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1947763"/>
            <a:ext cx="6296860" cy="2144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Increasingly unpredictable weather undermines planning and yields.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Farmers lack timely, farm‑specific, actionable recommendations.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Crop diseases are often identified too late for effective response.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Soil, satellite and local observations are fragmented and siloed.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Digital tools are hard to access for rural, low‑bandwidth users.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Language and connectivity barriers limit adoption of agtech.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305300"/>
            <a:ext cx="6296860" cy="1360785"/>
          </a:xfrm>
          <a:prstGeom prst="roundRect">
            <a:avLst>
              <a:gd name="adj" fmla="val 12501"/>
            </a:avLst>
          </a:prstGeom>
          <a:solidFill>
            <a:srgbClr val="CCFFEF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4572992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4541540"/>
            <a:ext cx="54936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One-line problem: Farmers don't lack data — they lack one simple system that converts scattered agricultural data into actionable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700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Introducing AgriBridge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777504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AgriBridge unifies diverse data sources into a farmer‑friendly decision support platform tailored for smallholders. It turns data into practical, localised actions.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94967"/>
            <a:ext cx="736582" cy="920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34290" y="2594967"/>
            <a:ext cx="156712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Satellite &amp; Vegetation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634290" y="3298924"/>
            <a:ext cx="1567121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Near real‑time NDVI and true‑color maps for field‑level monitoring.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594967"/>
            <a:ext cx="736582" cy="920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10461" y="2594967"/>
            <a:ext cx="1567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Soil Intelligence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410461" y="3298924"/>
            <a:ext cx="156722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SoilGrids integration for nutrient and moisture context at plot scale.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594967"/>
            <a:ext cx="736582" cy="920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86730" y="2594967"/>
            <a:ext cx="1567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IoT Telemetry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7186730" y="3298924"/>
            <a:ext cx="156722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Low-power sensors (ESP32 + MQTT) stream soil and canopy telemetry.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594967"/>
            <a:ext cx="736582" cy="920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963000" y="2594967"/>
            <a:ext cx="15672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Generative AgriAI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9963000" y="3298924"/>
            <a:ext cx="156722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Context‑aware, vernacular assistant for practical guidance and planning.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661475" y="532606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Initially piloted around groundnut farming in Kurnool and designed as a digital public good for smallholder and marginal farmers.</a:t>
            </a:r>
            <a:endParaRPr lang="en-US" sz="14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701F3D-91BE-D73E-85D2-6E817C1C8E23}"/>
              </a:ext>
            </a:extLst>
          </p:cNvPr>
          <p:cNvSpPr txBox="1"/>
          <p:nvPr/>
        </p:nvSpPr>
        <p:spPr>
          <a:xfrm>
            <a:off x="10910271" y="6485021"/>
            <a:ext cx="128172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Tech Vision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System Architecture — Data to Action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6782" y="1139726"/>
            <a:ext cx="6718033" cy="46297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05057" y="4020518"/>
            <a:ext cx="1835846" cy="244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Farmer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469460" y="2076345"/>
            <a:ext cx="1895488" cy="244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Web/PWA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741904" y="4589912"/>
            <a:ext cx="1835847" cy="48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AgriBridge Backend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71518" y="2588134"/>
            <a:ext cx="1835847" cy="244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Intelligence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61475" y="5905500"/>
            <a:ext cx="108687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Pipeline: Data → Intelligence → Recommendation → Action → Monitoring. Backend: Flask/Python with CV and vernacular LLM components connected to weather APIs, SoilGrids, Sentinel-2 imagery and MQTT IoT feeds.</a:t>
            </a:r>
            <a:endParaRPr lang="en-US" sz="11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7A3454-8ED1-7EED-F99B-08DCA7C8162D}"/>
              </a:ext>
            </a:extLst>
          </p:cNvPr>
          <p:cNvSpPr txBox="1"/>
          <p:nvPr/>
        </p:nvSpPr>
        <p:spPr>
          <a:xfrm>
            <a:off x="10865037" y="6484716"/>
            <a:ext cx="132696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800" dirty="0"/>
              <a:t> Tech Vision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539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Key Features — Visual Overview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55899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1955899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Farm Intelligence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2364581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Field health, soil moisture, rainfall forecasts, disease risk scores.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1955899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2617" y="1955899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Satellite Monitoring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922617" y="2364581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True‑color and NDVI maps for early stress detection and yield estimation.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347442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0177" y="3347442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Disease Detection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370177" y="3756124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YOLOv8 models diagnose leaf diseases from farmer‑submitted images.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3347442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22617" y="3347442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Ask AgriAI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922617" y="3756124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Vernacular conversational assistant — contextual, stepwise guidance.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738985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70177" y="4738985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Regenerative Farming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370177" y="5147667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Practice recommendations: rotation, intercropping, mulching, composting.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738985"/>
            <a:ext cx="472468" cy="4724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922617" y="4738985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Rural Optimisation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6922617" y="5147667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Low‑bandwidth, mobile‑first interface with multilingual support (EN/TE/HI).</a:t>
            </a:r>
            <a:endParaRPr lang="en-US" sz="145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2BEEF7-AF25-18EA-8D22-C324C57C8CBF}"/>
              </a:ext>
            </a:extLst>
          </p:cNvPr>
          <p:cNvSpPr txBox="1"/>
          <p:nvPr/>
        </p:nvSpPr>
        <p:spPr>
          <a:xfrm>
            <a:off x="10912803" y="6492573"/>
            <a:ext cx="128172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Tech Vision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4257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Disease Detection — Demo Flow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92970"/>
            <a:ext cx="4637269" cy="26278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6251" y="1887538"/>
            <a:ext cx="5770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Detection Pipeline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766251" y="2371824"/>
            <a:ext cx="5770220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Image capture by farmer → YOLOv8 inference (local/cloud)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Disease identification (example: Cercospora / Early Leaf Spot)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Confidence: 87% — Severity: Early Stage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Actionable output: biological &amp; preventive interventions (rhizobium, mulching, spray timing)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Follow‑up: monitoring schedule and reminders sent via PWA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766251" y="4663281"/>
            <a:ext cx="5770220" cy="1039416"/>
          </a:xfrm>
          <a:prstGeom prst="roundRect">
            <a:avLst>
              <a:gd name="adj" fmla="val 16367"/>
            </a:avLst>
          </a:prstGeom>
          <a:solidFill>
            <a:srgbClr val="CCFFE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258" y="4950023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80499" y="4880570"/>
            <a:ext cx="49669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Prototype includes sample groundnut leaf inspection workflow and documented README steps.</a:t>
            </a:r>
            <a:endParaRPr lang="en-US" sz="14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79B8FA-BF6B-9157-8251-13BC9EBC1D46}"/>
              </a:ext>
            </a:extLst>
          </p:cNvPr>
          <p:cNvSpPr txBox="1"/>
          <p:nvPr/>
        </p:nvSpPr>
        <p:spPr>
          <a:xfrm>
            <a:off x="10894646" y="6488668"/>
            <a:ext cx="129735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Tech Vision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3106"/>
            <a:ext cx="10868745" cy="44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Regenerative Agriculture — Circular Practice Loop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533" y="1513185"/>
            <a:ext cx="9870530" cy="38696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96796" y="1702960"/>
            <a:ext cx="1806902" cy="29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Soil Health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987719" y="1702960"/>
            <a:ext cx="1806902" cy="29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Crop Diversity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987719" y="4612144"/>
            <a:ext cx="1806902" cy="580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Water Efficiency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96796" y="4612144"/>
            <a:ext cx="1806902" cy="580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Biological Management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61475" y="5574705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Platform features: biomass mulching, groundnut+pigeon pea intercropping, crop rotation, vermicompost, Rhizobium inoculation, biological pest management. AgriBridge computes a regenerative score and translates it into a stepwise farm plan.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201539-5230-7527-C63E-8F26A01EDC26}"/>
              </a:ext>
            </a:extLst>
          </p:cNvPr>
          <p:cNvSpPr txBox="1"/>
          <p:nvPr/>
        </p:nvSpPr>
        <p:spPr>
          <a:xfrm>
            <a:off x="10912804" y="6488668"/>
            <a:ext cx="128172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Tech Vision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155"/>
            <a:ext cx="10868745" cy="425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BRICS / AgriN Interoperability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661475" y="2744192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AgriBridge supports cross‑border agricultural intelligence exchange across BRICS nations: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399036"/>
            <a:ext cx="5226911" cy="1453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Standardised agricultural data model and country adapters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Anonymised, zero‑PII sharing for aggregated insights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Common schemas for crops, soil, weather and disease events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Localized transforms to respect regulatory and language differences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994" y="1404243"/>
            <a:ext cx="4704141" cy="47042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CDDF7C-D139-C9CA-3165-D82C0AD01FA9}"/>
              </a:ext>
            </a:extLst>
          </p:cNvPr>
          <p:cNvSpPr txBox="1"/>
          <p:nvPr/>
        </p:nvSpPr>
        <p:spPr>
          <a:xfrm>
            <a:off x="10940156" y="6488668"/>
            <a:ext cx="125827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Tech Vision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9678"/>
            <a:ext cx="10868745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Technology Stack — What’s Implemented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25" y="1318220"/>
            <a:ext cx="2074414" cy="207446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3183" y="1318220"/>
            <a:ext cx="2074414" cy="2074466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8541" y="1318220"/>
            <a:ext cx="2074513" cy="207456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3999" y="1318220"/>
            <a:ext cx="2074414" cy="2074466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9357" y="1318220"/>
            <a:ext cx="2074513" cy="2074565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825" y="3513733"/>
            <a:ext cx="2074414" cy="2074466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3183" y="3513733"/>
            <a:ext cx="2074414" cy="2074466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8541" y="3513733"/>
            <a:ext cx="2074513" cy="2074565"/>
          </a:xfrm>
          <a:prstGeom prst="rect">
            <a:avLst/>
          </a:prstGeom>
        </p:spPr>
      </p:pic>
      <p:pic>
        <p:nvPicPr>
          <p:cNvPr id="1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53999" y="3513733"/>
            <a:ext cx="2074414" cy="2074466"/>
          </a:xfrm>
          <a:prstGeom prst="rect">
            <a:avLst/>
          </a:prstGeom>
        </p:spPr>
      </p:pic>
      <p:sp>
        <p:nvSpPr>
          <p:cNvPr id="12" name="Text 1"/>
          <p:cNvSpPr/>
          <p:nvPr/>
        </p:nvSpPr>
        <p:spPr>
          <a:xfrm>
            <a:off x="661475" y="5822950"/>
            <a:ext cx="108687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Implemented components (repository‑verified): Frontend: responsive HTML/CSS/JS, PWA. Backend: Python + Flask. CV: YOLOv8 models. GenAI: Claude integration for advisory. Satellite: Sentinel‑2 NDVI processing. Soil: ISRIC SoilGrids. IoT: ESP32 + MQTT. APIs: REST/JSON. Languages: English, Telugu, Hindi.</a:t>
            </a:r>
            <a:endParaRPr lang="en-US" sz="11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1AC060-BF35-A694-8DB8-2125E6992B2E}"/>
              </a:ext>
            </a:extLst>
          </p:cNvPr>
          <p:cNvSpPr txBox="1"/>
          <p:nvPr/>
        </p:nvSpPr>
        <p:spPr>
          <a:xfrm>
            <a:off x="10957170" y="6488668"/>
            <a:ext cx="123483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Tech Vision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904280"/>
            <a:ext cx="6296860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Impact &amp; Roadmap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5233360" y="1584623"/>
            <a:ext cx="329725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Expected Impact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5233360" y="1941810"/>
            <a:ext cx="3297254" cy="1868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Faster, localised crop decisions and improved yields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Early disease detection reducing crop losses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Optimised water use and improved soil health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Scalable, interoperable data for climate resilience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233360" y="3931047"/>
            <a:ext cx="329725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Roadmap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233360" y="4288234"/>
            <a:ext cx="3297254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Now — Core AI advisory, disease detection, satellite intelligence, IoT baseline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Next — Voice-based regional AI, expanded IoT network, smart‑farm digital twins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Later — Crop traceability, enhanced BRICS interoperability and regional rollouts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905851" y="1599704"/>
            <a:ext cx="2630620" cy="1325364"/>
          </a:xfrm>
          <a:prstGeom prst="roundRect">
            <a:avLst>
              <a:gd name="adj" fmla="val 10268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63406" y="1757263"/>
            <a:ext cx="231550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Funding Needs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063406" y="2114451"/>
            <a:ext cx="2315509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Scale pilots, sensor deployment, model refinement, regional localisation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905851" y="3046016"/>
            <a:ext cx="2630620" cy="1325364"/>
          </a:xfrm>
          <a:prstGeom prst="roundRect">
            <a:avLst>
              <a:gd name="adj" fmla="val 10268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63406" y="3203575"/>
            <a:ext cx="231550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Partnerships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9063406" y="3560763"/>
            <a:ext cx="2315509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Research institutions, extension networks, BRICS data partners, funders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905851" y="4492327"/>
            <a:ext cx="2630620" cy="1325364"/>
          </a:xfrm>
          <a:prstGeom prst="roundRect">
            <a:avLst>
              <a:gd name="adj" fmla="val 10268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63406" y="4649887"/>
            <a:ext cx="231550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Call to Action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9063406" y="5007074"/>
            <a:ext cx="2315509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Join us to scale AgriBridge — bring climate‑resilient intelligence to smallholders.</a:t>
            </a:r>
            <a:endParaRPr lang="en-US" sz="11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003432-80C2-DDFF-BCA6-A3250BD98CB8}"/>
              </a:ext>
            </a:extLst>
          </p:cNvPr>
          <p:cNvSpPr txBox="1"/>
          <p:nvPr/>
        </p:nvSpPr>
        <p:spPr>
          <a:xfrm>
            <a:off x="10886831" y="6481857"/>
            <a:ext cx="130516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Tech Vision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9A707D-ABC0-899D-EDC0-DB0C2CB17EFC}"/>
              </a:ext>
            </a:extLst>
          </p:cNvPr>
          <p:cNvSpPr txBox="1"/>
          <p:nvPr/>
        </p:nvSpPr>
        <p:spPr>
          <a:xfrm>
            <a:off x="10878264" y="6488668"/>
            <a:ext cx="131373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Tech Vision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F755E0-4D2E-AE5A-C38D-4BB781BC62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676" b="5848"/>
          <a:stretch>
            <a:fillRect/>
          </a:stretch>
        </p:blipFill>
        <p:spPr>
          <a:xfrm>
            <a:off x="1" y="369332"/>
            <a:ext cx="12191999" cy="46894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864AD8-D63F-78E0-2231-A7165C938F5B}"/>
              </a:ext>
            </a:extLst>
          </p:cNvPr>
          <p:cNvSpPr txBox="1"/>
          <p:nvPr/>
        </p:nvSpPr>
        <p:spPr>
          <a:xfrm>
            <a:off x="4879909" y="0"/>
            <a:ext cx="1362269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Noto Serif Bold" panose="020B0604020202020204" charset="0"/>
                <a:ea typeface="Noto Serif Bold" panose="020B0604020202020204" charset="0"/>
                <a:cs typeface="Noto Serif Bold" panose="020B0604020202020204" charset="0"/>
              </a:rPr>
              <a:t>Interface</a:t>
            </a:r>
            <a:endParaRPr lang="en-IN" b="1" dirty="0">
              <a:latin typeface="Noto Serif Bold" panose="020B0604020202020204" charset="0"/>
              <a:ea typeface="Noto Serif Bold" panose="020B0604020202020204" charset="0"/>
              <a:cs typeface="Noto Serif Bold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C10A63-8739-E7AD-782B-69C4D8A39FD6}"/>
              </a:ext>
            </a:extLst>
          </p:cNvPr>
          <p:cNvSpPr txBox="1"/>
          <p:nvPr/>
        </p:nvSpPr>
        <p:spPr>
          <a:xfrm>
            <a:off x="5209592" y="5358859"/>
            <a:ext cx="886408" cy="3693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Noto Serif Bold" panose="020B0604020202020204" charset="0"/>
                <a:ea typeface="Noto Serif Bold" panose="020B0604020202020204" charset="0"/>
                <a:cs typeface="Noto Serif Bold" panose="020B0604020202020204" charset="0"/>
              </a:rPr>
              <a:t>Links</a:t>
            </a:r>
            <a:endParaRPr lang="en-IN" b="1" dirty="0">
              <a:solidFill>
                <a:schemeClr val="accent6">
                  <a:lumMod val="50000"/>
                </a:schemeClr>
              </a:solidFill>
              <a:latin typeface="Noto Serif Bold" panose="020B0604020202020204" charset="0"/>
              <a:ea typeface="Noto Serif Bold" panose="020B0604020202020204" charset="0"/>
              <a:cs typeface="Noto Serif Bold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97256B-3809-A541-EE64-09610E3FBFC3}"/>
              </a:ext>
            </a:extLst>
          </p:cNvPr>
          <p:cNvSpPr txBox="1"/>
          <p:nvPr/>
        </p:nvSpPr>
        <p:spPr>
          <a:xfrm>
            <a:off x="2195804" y="5728191"/>
            <a:ext cx="60275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GitHub:  </a:t>
            </a:r>
            <a:r>
              <a:rPr lang="en-US" dirty="0">
                <a:hlinkClick r:id="rId3" tooltip="https://github.com/mahammedsathyala/AgriBridge"/>
              </a:rPr>
              <a:t>https://github.com/mahammedsathyala/AgriBridge</a:t>
            </a:r>
            <a:endParaRPr lang="en-US" dirty="0"/>
          </a:p>
          <a:p>
            <a:r>
              <a:rPr lang="en-US" dirty="0"/>
              <a:t>Demo Video: </a:t>
            </a:r>
            <a:r>
              <a:rPr lang="en-US" dirty="0">
                <a:hlinkClick r:id="rId4"/>
              </a:rPr>
              <a:t>https://youtu.be/jV3ctbmCCyg</a:t>
            </a:r>
            <a:endParaRPr lang="en-US" dirty="0"/>
          </a:p>
          <a:p>
            <a:r>
              <a:rPr lang="en-US" dirty="0"/>
              <a:t>Prototype: </a:t>
            </a:r>
            <a:r>
              <a:rPr lang="en-IN" dirty="0" err="1">
                <a:hlinkClick r:id="rId5"/>
              </a:rPr>
              <a:t>AgriBridge</a:t>
            </a:r>
            <a:r>
              <a:rPr lang="en-IN" dirty="0">
                <a:hlinkClick r:id="rId5"/>
              </a:rPr>
              <a:t> — BRICS AI Agriculture Network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711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826</Words>
  <Application>Microsoft Office PowerPoint</Application>
  <PresentationFormat>Widescreen</PresentationFormat>
  <Paragraphs>109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Noto Serif Bold</vt:lpstr>
      <vt:lpstr>Geist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SATHYALA MAHAMMED</dc:creator>
  <cp:lastModifiedBy>Mahammed Sathyala</cp:lastModifiedBy>
  <cp:revision>4</cp:revision>
  <dcterms:created xsi:type="dcterms:W3CDTF">2026-09-22T09:37:40Z</dcterms:created>
  <dcterms:modified xsi:type="dcterms:W3CDTF">2026-09-22T17:54:43Z</dcterms:modified>
</cp:coreProperties>
</file>